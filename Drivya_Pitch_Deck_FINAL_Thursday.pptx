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10" autoAdjust="0"/>
    <p:restoredTop sz="94610"/>
  </p:normalViewPr>
  <p:slideViewPr>
    <p:cSldViewPr snapToGrid="0" snapToObjects="1">
      <p:cViewPr>
        <p:scale>
          <a:sx n="125" d="100"/>
          <a:sy n="125" d="100"/>
        </p:scale>
        <p:origin x="144" y="22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179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731520"/>
            <a:ext cx="3200400" cy="3200400"/>
          </a:xfrm>
          <a:prstGeom prst="ellipse">
            <a:avLst/>
          </a:prstGeom>
          <a:solidFill>
            <a:srgbClr val="1B998B">
              <a:alpha val="20000"/>
            </a:srgbClr>
          </a:solidFill>
          <a:ln w="12700">
            <a:solidFill>
              <a:srgbClr val="1B998B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0" y="2560320"/>
            <a:ext cx="2011680" cy="2011680"/>
          </a:xfrm>
          <a:prstGeom prst="ellipse">
            <a:avLst/>
          </a:prstGeom>
          <a:solidFill>
            <a:srgbClr val="E9C46A">
              <a:alpha val="25000"/>
            </a:srgbClr>
          </a:solidFill>
          <a:ln w="12700">
            <a:solidFill>
              <a:srgbClr val="E9C46A">
                <a:alpha val="2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4300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Drivya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457200" y="228600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Purpose with Impact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7200" y="2926080"/>
            <a:ext cx="5943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ACB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first intelligent matching platform for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ACB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Incubators • CSR Companies • NGOs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81A33"/>
          </a:solidFill>
          <a:ln w="12700">
            <a:solidFill>
              <a:srgbClr val="081A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663440"/>
            <a:ext cx="8595360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A9FAA"/>
                </a:solidFill>
              </a:rPr>
              <a:t>Presented to  •  Incubation Centre  • 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THE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1188720"/>
            <a:ext cx="8412480" cy="777240"/>
          </a:xfrm>
          <a:prstGeom prst="rect">
            <a:avLst/>
          </a:prstGeom>
          <a:solidFill>
            <a:srgbClr val="1B998B">
              <a:alpha val="12000"/>
            </a:srgbClr>
          </a:solidFill>
          <a:ln w="12700">
            <a:solidFill>
              <a:srgbClr val="1B99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5156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0B2545"/>
                </a:solidFill>
              </a:rPr>
              <a:t>"NGO onboarding is like vendor onboarding. In tribal regions, only local NGOs work — and 30-40 days later you realize they can't deliver."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02920" y="1719072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B998B"/>
                </a:solidFill>
              </a:rPr>
              <a:t>— Dashrath Luva, CSR Professional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2084832"/>
            <a:ext cx="274320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084832"/>
            <a:ext cx="2743200" cy="164592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2304288"/>
            <a:ext cx="731520" cy="73152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1328" y="2395728"/>
            <a:ext cx="512064" cy="51206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75488" y="3154680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545"/>
                </a:solidFill>
              </a:rPr>
              <a:t>Discovery is Broken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502920" y="3584448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C757D"/>
                </a:solidFill>
              </a:rPr>
              <a:t>Google search gives vague results. Org websites don't reveal actual work scope, geography, or focus areas.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246120" y="2084832"/>
            <a:ext cx="274320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246120" y="2084832"/>
            <a:ext cx="2743200" cy="164592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251960" y="2304288"/>
            <a:ext cx="731520" cy="73152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1688" y="2395728"/>
            <a:ext cx="512064" cy="51206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355848" y="3154680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545"/>
                </a:solidFill>
              </a:rPr>
              <a:t>Geography Mismatch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3383280" y="3584448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C757D"/>
                </a:solidFill>
              </a:rPr>
              <a:t>Urban-focused platforms miss ground-level NGOs in tribal &amp; rural regions where impact is most needed.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6126480" y="2084832"/>
            <a:ext cx="2743200" cy="2697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6126480" y="2084832"/>
            <a:ext cx="2743200" cy="164592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7132320" y="2304288"/>
            <a:ext cx="731520" cy="73152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2048" y="2395728"/>
            <a:ext cx="512064" cy="51206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236208" y="3154680"/>
            <a:ext cx="25237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B2545"/>
                </a:solidFill>
              </a:rPr>
              <a:t>30–40 Day Wasted Cycle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6263640" y="3584448"/>
            <a:ext cx="2468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C757D"/>
                </a:solidFill>
              </a:rPr>
              <a:t>Due diligence, KPI negotiation &amp; budget alignment take weeks — only to find the org can't deliver. No pre-screening happens.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MARKET OPPORTUNITY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841248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ACBC5"/>
                </a:solidFill>
              </a:rPr>
              <a:t>India's CSR ecosystem is massive — and massively inefficient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417320"/>
            <a:ext cx="2606040" cy="2194560"/>
          </a:xfrm>
          <a:prstGeom prst="rect">
            <a:avLst/>
          </a:prstGeom>
          <a:solidFill>
            <a:srgbClr val="142B45"/>
          </a:solidFill>
          <a:ln w="12700">
            <a:solidFill>
              <a:srgbClr val="1E3D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417320"/>
            <a:ext cx="2606040" cy="9144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627632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9C46A"/>
                </a:solidFill>
              </a:rPr>
              <a:t>₹29,987 Cr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02920" y="239572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CSR Spent in India (FY2023)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8803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AABB"/>
                </a:solidFill>
              </a:rPr>
              <a:t>Source: Ministry of Corporate Affairs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7AAABB"/>
                </a:solidFill>
              </a:rPr>
              <a:t>(Companies Act 2013 mandate)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1417320"/>
            <a:ext cx="2606040" cy="2194560"/>
          </a:xfrm>
          <a:prstGeom prst="rect">
            <a:avLst/>
          </a:prstGeom>
          <a:solidFill>
            <a:srgbClr val="142B45"/>
          </a:solidFill>
          <a:ln w="12700">
            <a:solidFill>
              <a:srgbClr val="1E3D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417320"/>
            <a:ext cx="2606040" cy="9144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627632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9C46A"/>
                </a:solidFill>
              </a:rPr>
              <a:t>1.87 Lakh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291840" y="239572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NGOs on NITI Aayog Darpan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91840" y="28803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AABB"/>
                </a:solidFill>
              </a:rPr>
              <a:t>Source: NGO Darpan Portal, Oct 2023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7AAABB"/>
                </a:solidFill>
              </a:rPr>
              <a:t>Majority under-connected &amp; underfunded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989320" y="1417320"/>
            <a:ext cx="2606040" cy="2194560"/>
          </a:xfrm>
          <a:prstGeom prst="rect">
            <a:avLst/>
          </a:prstGeom>
          <a:solidFill>
            <a:srgbClr val="142B45"/>
          </a:solidFill>
          <a:ln w="12700">
            <a:solidFill>
              <a:srgbClr val="1E3D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989320" y="1417320"/>
            <a:ext cx="2606040" cy="9144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1627632"/>
            <a:ext cx="2423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9C46A"/>
                </a:solidFill>
              </a:rPr>
              <a:t>30–40 Days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6080760" y="239572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Avg. onboarding time lost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080760" y="28803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AAABB"/>
                </a:solidFill>
              </a:rPr>
              <a:t>Source: Dashrath Luva, CSR Professional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7AAABB"/>
                </a:solidFill>
              </a:rPr>
              <a:t>(Primary research, 2025)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11480" y="3840480"/>
            <a:ext cx="8321040" cy="658368"/>
          </a:xfrm>
          <a:prstGeom prst="rect">
            <a:avLst/>
          </a:prstGeom>
          <a:solidFill>
            <a:srgbClr val="1B998B">
              <a:alpha val="20000"/>
            </a:srgbClr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84048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</a:rPr>
              <a:t>💡  Even capturing 1% of the ₹29,987 Cr CSR pool as a matching fee represents a ₹300 Cr opportunity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OUR SOLUTION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62179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05840"/>
            <a:ext cx="8229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E9C46A"/>
                </a:solidFill>
              </a:rPr>
              <a:t>Drivya is the "Matrimony.com" for Organizations  —  Real compatibility, not random searches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365760" y="1828800"/>
            <a:ext cx="27889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828800"/>
            <a:ext cx="2788920" cy="411480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288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INCUBATOR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371600" y="2304288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🏢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02920" y="306324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C757D"/>
                </a:solidFill>
              </a:rPr>
              <a:t>Discovers CSR &amp; NGO partners aligned to their startup's domain and geography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46120" y="1828800"/>
            <a:ext cx="27889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1828800"/>
            <a:ext cx="2788920" cy="41148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37560" y="18288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CSR COMPANY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251960" y="2304288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💼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383280" y="306324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C757D"/>
                </a:solidFill>
              </a:rPr>
              <a:t>Finds verified NGOs and incubators that match budget, sector &amp; impact goals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26480" y="1828800"/>
            <a:ext cx="2788920" cy="2606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828800"/>
            <a:ext cx="2788920" cy="41148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0" y="182880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NGO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132320" y="2304288"/>
            <a:ext cx="777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🤝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6263640" y="3063240"/>
            <a:ext cx="2514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C757D"/>
                </a:solidFill>
              </a:rPr>
              <a:t>Gets discovered by the right funders &amp; partners — always free to join &amp; be found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4297680"/>
            <a:ext cx="8412480" cy="65836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02920" y="429768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9C46A"/>
                </a:solidFill>
              </a:rPr>
              <a:t>⚡  How Drivya kills the 30-40 day wait: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246120" y="4297680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C8D4"/>
                </a:solidFill>
              </a:rPr>
              <a:t>All compatibility data (budget, geography, KPIs, capacity) is collected at signup → Match Score filters incompatible orgs before any conversation → CSRs only talk to pre-vetted, high-score partners.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HOW IT WORKS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8638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AABB"/>
                </a:solidFill>
              </a:rPr>
              <a:t>5 simple steps from sign-up to partnership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530352" cy="530352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618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26364" y="1792224"/>
            <a:ext cx="0" cy="201168"/>
          </a:xfrm>
          <a:prstGeom prst="line">
            <a:avLst/>
          </a:prstGeom>
          <a:noFill/>
          <a:ln w="19050">
            <a:solidFill>
              <a:srgbClr val="1B998B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1097280" y="1261872"/>
            <a:ext cx="7498080" cy="530352"/>
          </a:xfrm>
          <a:prstGeom prst="rect">
            <a:avLst/>
          </a:prstGeom>
          <a:solidFill>
            <a:srgbClr val="132A43"/>
          </a:solidFill>
          <a:ln w="12700">
            <a:solidFill>
              <a:srgbClr val="1E3D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234440" y="1261872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C4B6"/>
                </a:solidFill>
              </a:rPr>
              <a:t>Sign Up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246120" y="1353312"/>
            <a:ext cx="0" cy="347472"/>
          </a:xfrm>
          <a:prstGeom prst="line">
            <a:avLst/>
          </a:prstGeom>
          <a:noFill/>
          <a:ln w="12700">
            <a:solidFill>
              <a:srgbClr val="2A4A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83280" y="1261872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8D4"/>
                </a:solidFill>
              </a:rPr>
              <a:t>OTP-based auth via Supabase — fast, secure, frictionless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1993392"/>
            <a:ext cx="530352" cy="530352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99339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" y="2523744"/>
            <a:ext cx="0" cy="201168"/>
          </a:xfrm>
          <a:prstGeom prst="line">
            <a:avLst/>
          </a:prstGeom>
          <a:noFill/>
          <a:ln w="19050">
            <a:solidFill>
              <a:srgbClr val="1B998B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1097280" y="1993392"/>
            <a:ext cx="7498080" cy="530352"/>
          </a:xfrm>
          <a:prstGeom prst="rect">
            <a:avLst/>
          </a:prstGeom>
          <a:solidFill>
            <a:srgbClr val="132A43"/>
          </a:solidFill>
          <a:ln w="12700">
            <a:solidFill>
              <a:srgbClr val="1E3D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234440" y="1993392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C4B6"/>
                </a:solidFill>
              </a:rPr>
              <a:t>Select Role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246120" y="2084832"/>
            <a:ext cx="0" cy="347472"/>
          </a:xfrm>
          <a:prstGeom prst="line">
            <a:avLst/>
          </a:prstGeom>
          <a:noFill/>
          <a:ln w="12700">
            <a:solidFill>
              <a:srgbClr val="2A4A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383280" y="1993392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8D4"/>
                </a:solidFill>
              </a:rPr>
              <a:t>Choose: Incubator, CSR Company, or NGO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724912"/>
            <a:ext cx="530352" cy="530352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72491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6364" y="3255264"/>
            <a:ext cx="0" cy="201168"/>
          </a:xfrm>
          <a:prstGeom prst="line">
            <a:avLst/>
          </a:prstGeom>
          <a:noFill/>
          <a:ln w="19050">
            <a:solidFill>
              <a:srgbClr val="1B998B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1097280" y="2724912"/>
            <a:ext cx="7498080" cy="530352"/>
          </a:xfrm>
          <a:prstGeom prst="rect">
            <a:avLst/>
          </a:prstGeom>
          <a:solidFill>
            <a:srgbClr val="132A43"/>
          </a:solidFill>
          <a:ln w="12700">
            <a:solidFill>
              <a:srgbClr val="1E3D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234440" y="2724912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C4B6"/>
                </a:solidFill>
              </a:rPr>
              <a:t>Build Profile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3246120" y="2816352"/>
            <a:ext cx="0" cy="347472"/>
          </a:xfrm>
          <a:prstGeom prst="line">
            <a:avLst/>
          </a:prstGeom>
          <a:noFill/>
          <a:ln w="12700">
            <a:solidFill>
              <a:srgbClr val="2A4A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2724912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8D4"/>
                </a:solidFill>
              </a:rPr>
              <a:t>Name, focus area, geography, org size, what you seek in a partner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3456432"/>
            <a:ext cx="530352" cy="530352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345643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6364" y="3986784"/>
            <a:ext cx="0" cy="201168"/>
          </a:xfrm>
          <a:prstGeom prst="line">
            <a:avLst/>
          </a:prstGeom>
          <a:noFill/>
          <a:ln w="19050">
            <a:solidFill>
              <a:srgbClr val="1B998B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1097280" y="3456432"/>
            <a:ext cx="7498080" cy="530352"/>
          </a:xfrm>
          <a:prstGeom prst="rect">
            <a:avLst/>
          </a:prstGeom>
          <a:solidFill>
            <a:srgbClr val="132A43"/>
          </a:solidFill>
          <a:ln w="12700">
            <a:solidFill>
              <a:srgbClr val="1E3D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1234440" y="3456432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C4B6"/>
                </a:solidFill>
              </a:rPr>
              <a:t>Get Matched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3246120" y="3547872"/>
            <a:ext cx="0" cy="347472"/>
          </a:xfrm>
          <a:prstGeom prst="line">
            <a:avLst/>
          </a:prstGeom>
          <a:noFill/>
          <a:ln w="12700">
            <a:solidFill>
              <a:srgbClr val="2A4A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83280" y="3456432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8D4"/>
                </a:solidFill>
              </a:rPr>
              <a:t>5-signal algorithm ranks compatible orgs by Match Score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65760" y="4187952"/>
            <a:ext cx="530352" cy="530352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18795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097280" y="4187952"/>
            <a:ext cx="7498080" cy="530352"/>
          </a:xfrm>
          <a:prstGeom prst="rect">
            <a:avLst/>
          </a:prstGeom>
          <a:solidFill>
            <a:srgbClr val="132A43"/>
          </a:solidFill>
          <a:ln w="12700">
            <a:solidFill>
              <a:srgbClr val="1E3D5C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1234440" y="4187952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C4B6"/>
                </a:solidFill>
              </a:rPr>
              <a:t>Connect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3246120" y="4279392"/>
            <a:ext cx="0" cy="347472"/>
          </a:xfrm>
          <a:prstGeom prst="line">
            <a:avLst/>
          </a:prstGeom>
          <a:noFill/>
          <a:ln w="12700">
            <a:solidFill>
              <a:srgbClr val="2A4A6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383280" y="4187952"/>
            <a:ext cx="5074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C8D4"/>
                </a:solidFill>
              </a:rPr>
              <a:t>First 3 matches free. Unlock more with Tier 1 or Tier 2 plan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</a:rPr>
              <a:t>HOW THE MATCH SCORE WORKS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C757D"/>
                </a:solidFill>
              </a:rPr>
              <a:t>When you sign up, Drivya collects 5 key data points. These are compared across both profiles to generate a compatibility score.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481328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481328"/>
            <a:ext cx="2697480" cy="128016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9768" y="1682496"/>
            <a:ext cx="347472" cy="347472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16824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850392" y="1682496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</a:rPr>
              <a:t>Focus Area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9768" y="210312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43A40"/>
                </a:solidFill>
              </a:rPr>
              <a:t>"What sector do you work in?"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29768" y="2487168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C757D"/>
                </a:solidFill>
              </a:rPr>
              <a:t>Education, Health, Livelihood, Environment…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46120" y="1481328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481328"/>
            <a:ext cx="2697480" cy="128016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55848" y="1682496"/>
            <a:ext cx="347472" cy="347472"/>
          </a:xfrm>
          <a:prstGeom prst="ellipse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55848" y="16824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776472" y="1682496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</a:rPr>
              <a:t>Geography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55848" y="210312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43A40"/>
                </a:solidFill>
              </a:rPr>
              <a:t>"Which state / district do you operate?"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355848" y="2487168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C757D"/>
                </a:solidFill>
              </a:rPr>
              <a:t>Urban vs Rural, tribal regions, specific districts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172200" y="1481328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72200" y="1481328"/>
            <a:ext cx="2697480" cy="12801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81928" y="1682496"/>
            <a:ext cx="347472" cy="34747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81928" y="16824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702552" y="1682496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</a:rPr>
              <a:t>Past Work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81928" y="2103120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43A40"/>
                </a:solidFill>
              </a:rPr>
              <a:t>"What have you done before?"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281928" y="2487168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C757D"/>
                </a:solidFill>
              </a:rPr>
              <a:t>Project type, scale, beneficiaries served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1783080" y="3090672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1783080" y="3090672"/>
            <a:ext cx="2697480" cy="128016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892808" y="3291840"/>
            <a:ext cx="347472" cy="347472"/>
          </a:xfrm>
          <a:prstGeom prst="ellipse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892808" y="3291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2313432" y="329184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</a:rPr>
              <a:t>Budget Range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892808" y="3712464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43A40"/>
                </a:solidFill>
              </a:rPr>
              <a:t>"What is your funding size?"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1892808" y="4096512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C757D"/>
                </a:solidFill>
              </a:rPr>
              <a:t>CSR budget or NGO funding requirement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709160" y="3090672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09160" y="3090672"/>
            <a:ext cx="2697480" cy="128016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18888" y="3291840"/>
            <a:ext cx="347472" cy="347472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18888" y="32918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05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239512" y="3291840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2545"/>
                </a:solidFill>
              </a:rPr>
              <a:t>Org Capacity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818888" y="3712464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43A40"/>
                </a:solidFill>
              </a:rPr>
              <a:t>"How big is your organisation?"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4818888" y="4096512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C757D"/>
                </a:solidFill>
              </a:rPr>
              <a:t>Team size, years active, delivery track record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01168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WHAT DRIVYA DOES FOR YOUR INCUBATION CENTRE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4124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CBC5"/>
                </a:solidFill>
              </a:rPr>
              <a:t>Your startups need funding connections and implementation partners. Drivya brings both — matched, not random.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3566160" cy="658368"/>
          </a:xfrm>
          <a:prstGeom prst="rect">
            <a:avLst/>
          </a:prstGeom>
          <a:solidFill>
            <a:srgbClr val="1A1A3A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3776" y="1261872"/>
            <a:ext cx="3401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C8F0"/>
                </a:solidFill>
              </a:rPr>
              <a:t>🔍  Your startup googles 'CSR company education sector' — gets 200 vague results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005072" y="1261872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9C46A"/>
                </a:solidFill>
              </a:rPr>
              <a:t>→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498848" y="1261872"/>
            <a:ext cx="4297680" cy="658368"/>
          </a:xfrm>
          <a:prstGeom prst="rect">
            <a:avLst/>
          </a:prstGeom>
          <a:solidFill>
            <a:srgbClr val="0D2B1E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26864" y="1261872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DDD5"/>
                </a:solidFill>
              </a:rPr>
              <a:t>Drivya shows ranked CSR companies whose sector, geography &amp; budget already match your startup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176272"/>
            <a:ext cx="3566160" cy="658368"/>
          </a:xfrm>
          <a:prstGeom prst="rect">
            <a:avLst/>
          </a:prstGeom>
          <a:solidFill>
            <a:srgbClr val="1A1A3A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" y="2176272"/>
            <a:ext cx="3401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C8F0"/>
                </a:solidFill>
              </a:rPr>
              <a:t>📍  You spend weeks intro-ing startups to CSRs who later say 'geography doesn't fit'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005072" y="2176272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9C46A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4498848" y="2176272"/>
            <a:ext cx="4297680" cy="658368"/>
          </a:xfrm>
          <a:prstGeom prst="rect">
            <a:avLst/>
          </a:prstGeom>
          <a:solidFill>
            <a:srgbClr val="0D2B1E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26864" y="2176272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DDD5"/>
                </a:solidFill>
              </a:rPr>
              <a:t>All compatibility filters are applied before the first conversation — no wasted meetings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3090672"/>
            <a:ext cx="3566160" cy="658368"/>
          </a:xfrm>
          <a:prstGeom prst="rect">
            <a:avLst/>
          </a:prstGeom>
          <a:solidFill>
            <a:srgbClr val="1A1A3A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3776" y="3090672"/>
            <a:ext cx="3401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C8F0"/>
                </a:solidFill>
              </a:rPr>
              <a:t>🤝  Startups needing NGO field partners have no structured way to find them in target districts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005072" y="3090672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9C46A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498848" y="3090672"/>
            <a:ext cx="4297680" cy="658368"/>
          </a:xfrm>
          <a:prstGeom prst="rect">
            <a:avLst/>
          </a:prstGeom>
          <a:solidFill>
            <a:srgbClr val="0D2B1E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26864" y="3090672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DDD5"/>
                </a:solidFill>
              </a:rPr>
              <a:t>NGOs onboarded by region — a startup can find an implementation NGO in any district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65760" y="4005072"/>
            <a:ext cx="3566160" cy="658368"/>
          </a:xfrm>
          <a:prstGeom prst="rect">
            <a:avLst/>
          </a:prstGeom>
          <a:solidFill>
            <a:srgbClr val="1A1A3A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" y="4005072"/>
            <a:ext cx="34015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0C8F0"/>
                </a:solidFill>
              </a:rPr>
              <a:t>🏢  Your incubation centre has no visibility to CSR companies looking to fund startups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005072" y="4005072"/>
            <a:ext cx="457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9C46A"/>
                </a:solidFill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4498848" y="4005072"/>
            <a:ext cx="4297680" cy="658368"/>
          </a:xfrm>
          <a:prstGeom prst="rect">
            <a:avLst/>
          </a:prstGeom>
          <a:solidFill>
            <a:srgbClr val="0D2B1E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26864" y="4005072"/>
            <a:ext cx="4114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0DDD5"/>
                </a:solidFill>
              </a:rPr>
              <a:t>Your centre gets a verified profile — CSRs actively looking for incubators can discover you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COMPETITIVE LANDSCAPE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7AAABB"/>
                </a:solidFill>
              </a:rPr>
              <a:t>Why existing options fail CSR professionals &amp; NGOs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932688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E9C46A"/>
                </a:solidFill>
              </a:rPr>
              <a:t>None of these platforms serve Incubators + CSR + NGOs together in one place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2148840" cy="530352"/>
          </a:xfrm>
          <a:prstGeom prst="rect">
            <a:avLst/>
          </a:prstGeom>
          <a:solidFill>
            <a:srgbClr val="142B45"/>
          </a:solidFill>
          <a:ln w="12700">
            <a:solidFill>
              <a:srgbClr val="2A4A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78992"/>
            <a:ext cx="2148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C4B6"/>
                </a:solidFill>
              </a:rPr>
              <a:t>Feature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0" y="1078992"/>
            <a:ext cx="1508760" cy="530352"/>
          </a:xfrm>
          <a:prstGeom prst="rect">
            <a:avLst/>
          </a:prstGeom>
          <a:solidFill>
            <a:srgbClr val="142B45"/>
          </a:solidFill>
          <a:ln w="12700">
            <a:solidFill>
              <a:srgbClr val="2A4A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60320" y="1078992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C4B6"/>
                </a:solidFill>
              </a:rPr>
              <a:t>NGO Darpan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2EC4B6"/>
                </a:solidFill>
              </a:rPr>
              <a:t>ngodarpan.gov.in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160520" y="1078992"/>
            <a:ext cx="1508760" cy="530352"/>
          </a:xfrm>
          <a:prstGeom prst="rect">
            <a:avLst/>
          </a:prstGeom>
          <a:solidFill>
            <a:srgbClr val="142B45"/>
          </a:solidFill>
          <a:ln w="12700">
            <a:solidFill>
              <a:srgbClr val="2A4A6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60520" y="1078992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C4B6"/>
                </a:solidFill>
              </a:rPr>
              <a:t>CSRBOX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2EC4B6"/>
                </a:solidFill>
              </a:rPr>
              <a:t>csrbox.org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760720" y="1078992"/>
            <a:ext cx="1508760" cy="530352"/>
          </a:xfrm>
          <a:prstGeom prst="rect">
            <a:avLst/>
          </a:prstGeom>
          <a:solidFill>
            <a:srgbClr val="142B45"/>
          </a:solidFill>
          <a:ln w="12700">
            <a:solidFill>
              <a:srgbClr val="2A4A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0" y="1078992"/>
            <a:ext cx="1508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2EC4B6"/>
                </a:solidFill>
              </a:rPr>
              <a:t>Startup India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2EC4B6"/>
                </a:solidFill>
              </a:rPr>
              <a:t>startupindia.gov.in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7406640" y="1078992"/>
            <a:ext cx="1645920" cy="530352"/>
          </a:xfrm>
          <a:prstGeom prst="rect">
            <a:avLst/>
          </a:prstGeom>
          <a:solidFill>
            <a:srgbClr val="1B4A38"/>
          </a:solidFill>
          <a:ln w="12700">
            <a:solidFill>
              <a:srgbClr val="2A4A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06640" y="1078992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E9C46A"/>
                </a:solidFill>
              </a:rPr>
              <a:t>DRIVYA ✦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20040" y="1664208"/>
            <a:ext cx="2148840" cy="457200"/>
          </a:xfrm>
          <a:prstGeom prst="rect">
            <a:avLst/>
          </a:prstGeom>
          <a:solidFill>
            <a:srgbClr val="0E2240"/>
          </a:solidFill>
          <a:ln w="12700">
            <a:solidFill>
              <a:srgbClr val="1E3D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166420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0C8D4"/>
                </a:solidFill>
              </a:rPr>
              <a:t>Serves NGOs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560320" y="1664208"/>
            <a:ext cx="1508760" cy="457200"/>
          </a:xfrm>
          <a:prstGeom prst="rect">
            <a:avLst/>
          </a:prstGeom>
          <a:solidFill>
            <a:srgbClr val="0E2240"/>
          </a:solidFill>
          <a:ln w="12700">
            <a:solidFill>
              <a:srgbClr val="1E3D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06040" y="166420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9C46A"/>
                </a:solidFill>
              </a:rPr>
              <a:t>Part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160520" y="1664208"/>
            <a:ext cx="1508760" cy="457200"/>
          </a:xfrm>
          <a:prstGeom prst="rect">
            <a:avLst/>
          </a:prstGeom>
          <a:solidFill>
            <a:srgbClr val="0E2240"/>
          </a:solidFill>
          <a:ln w="12700">
            <a:solidFill>
              <a:srgbClr val="1E3D5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06240" y="166420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05C5C"/>
                </a:solidFill>
              </a:rPr>
              <a:t>✗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760720" y="1664208"/>
            <a:ext cx="1508760" cy="457200"/>
          </a:xfrm>
          <a:prstGeom prst="rect">
            <a:avLst/>
          </a:prstGeom>
          <a:solidFill>
            <a:srgbClr val="0E2240"/>
          </a:solidFill>
          <a:ln w="12700">
            <a:solidFill>
              <a:srgbClr val="1E3D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06440" y="166420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05C5C"/>
                </a:solidFill>
              </a:rPr>
              <a:t>✗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406640" y="1664208"/>
            <a:ext cx="1645920" cy="457200"/>
          </a:xfrm>
          <a:prstGeom prst="rect">
            <a:avLst/>
          </a:prstGeom>
          <a:solidFill>
            <a:srgbClr val="112E22"/>
          </a:solidFill>
          <a:ln w="12700">
            <a:solidFill>
              <a:srgbClr val="1E3D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52360" y="166420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C4B6"/>
                </a:solidFill>
              </a:rPr>
              <a:t>✓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0040" y="2167128"/>
            <a:ext cx="2148840" cy="457200"/>
          </a:xfrm>
          <a:prstGeom prst="rect">
            <a:avLst/>
          </a:prstGeom>
          <a:solidFill>
            <a:srgbClr val="0A1B35"/>
          </a:solidFill>
          <a:ln w="12700">
            <a:solidFill>
              <a:srgbClr val="1E3D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216712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0C8D4"/>
                </a:solidFill>
              </a:rPr>
              <a:t>Serves CSR Companies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560320" y="2167128"/>
            <a:ext cx="1508760" cy="457200"/>
          </a:xfrm>
          <a:prstGeom prst="rect">
            <a:avLst/>
          </a:prstGeom>
          <a:solidFill>
            <a:srgbClr val="0A1B35"/>
          </a:solidFill>
          <a:ln w="12700">
            <a:solidFill>
              <a:srgbClr val="1E3D5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06040" y="216712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05C5C"/>
                </a:solidFill>
              </a:rPr>
              <a:t>✗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160520" y="2167128"/>
            <a:ext cx="1508760" cy="457200"/>
          </a:xfrm>
          <a:prstGeom prst="rect">
            <a:avLst/>
          </a:prstGeom>
          <a:solidFill>
            <a:srgbClr val="0A1B35"/>
          </a:solidFill>
          <a:ln w="12700">
            <a:solidFill>
              <a:srgbClr val="1E3D5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06240" y="216712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C4B6"/>
                </a:solidFill>
              </a:rPr>
              <a:t>✓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760720" y="2167128"/>
            <a:ext cx="1508760" cy="457200"/>
          </a:xfrm>
          <a:prstGeom prst="rect">
            <a:avLst/>
          </a:prstGeom>
          <a:solidFill>
            <a:srgbClr val="0A1B35"/>
          </a:solidFill>
          <a:ln w="12700">
            <a:solidFill>
              <a:srgbClr val="1E3D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06440" y="216712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05C5C"/>
                </a:solidFill>
              </a:rPr>
              <a:t>✗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7406640" y="2167128"/>
            <a:ext cx="1645920" cy="457200"/>
          </a:xfrm>
          <a:prstGeom prst="rect">
            <a:avLst/>
          </a:prstGeom>
          <a:solidFill>
            <a:srgbClr val="112E22"/>
          </a:solidFill>
          <a:ln w="12700">
            <a:solidFill>
              <a:srgbClr val="1E3D5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52360" y="216712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C4B6"/>
                </a:solidFill>
              </a:rPr>
              <a:t>✓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320040" y="2670048"/>
            <a:ext cx="2148840" cy="457200"/>
          </a:xfrm>
          <a:prstGeom prst="rect">
            <a:avLst/>
          </a:prstGeom>
          <a:solidFill>
            <a:srgbClr val="0E2240"/>
          </a:solidFill>
          <a:ln w="12700">
            <a:solidFill>
              <a:srgbClr val="1E3D5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267004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0C8D4"/>
                </a:solidFill>
              </a:rPr>
              <a:t>Serves Incubators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560320" y="2670048"/>
            <a:ext cx="1508760" cy="457200"/>
          </a:xfrm>
          <a:prstGeom prst="rect">
            <a:avLst/>
          </a:prstGeom>
          <a:solidFill>
            <a:srgbClr val="0E2240"/>
          </a:solidFill>
          <a:ln w="12700">
            <a:solidFill>
              <a:srgbClr val="1E3D5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06040" y="267004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05C5C"/>
                </a:solidFill>
              </a:rPr>
              <a:t>✗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160520" y="2670048"/>
            <a:ext cx="1508760" cy="457200"/>
          </a:xfrm>
          <a:prstGeom prst="rect">
            <a:avLst/>
          </a:prstGeom>
          <a:solidFill>
            <a:srgbClr val="0E2240"/>
          </a:solidFill>
          <a:ln w="12700">
            <a:solidFill>
              <a:srgbClr val="1E3D5C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06240" y="267004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05C5C"/>
                </a:solidFill>
              </a:rPr>
              <a:t>✗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760720" y="2670048"/>
            <a:ext cx="1508760" cy="457200"/>
          </a:xfrm>
          <a:prstGeom prst="rect">
            <a:avLst/>
          </a:prstGeom>
          <a:solidFill>
            <a:srgbClr val="0E2240"/>
          </a:solidFill>
          <a:ln w="12700">
            <a:solidFill>
              <a:srgbClr val="1E3D5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806440" y="267004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C4B6"/>
                </a:solidFill>
              </a:rPr>
              <a:t>✓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7406640" y="2670048"/>
            <a:ext cx="1645920" cy="457200"/>
          </a:xfrm>
          <a:prstGeom prst="rect">
            <a:avLst/>
          </a:prstGeom>
          <a:solidFill>
            <a:srgbClr val="112E22"/>
          </a:solidFill>
          <a:ln w="12700">
            <a:solidFill>
              <a:srgbClr val="1E3D5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52360" y="267004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C4B6"/>
                </a:solidFill>
              </a:rPr>
              <a:t>✓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320040" y="3172968"/>
            <a:ext cx="2148840" cy="457200"/>
          </a:xfrm>
          <a:prstGeom prst="rect">
            <a:avLst/>
          </a:prstGeom>
          <a:solidFill>
            <a:srgbClr val="0A1B35"/>
          </a:solidFill>
          <a:ln w="12700">
            <a:solidFill>
              <a:srgbClr val="1E3D5C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65760" y="317296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0C8D4"/>
                </a:solidFill>
              </a:rPr>
              <a:t>Smart Match Score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560320" y="3172968"/>
            <a:ext cx="1508760" cy="457200"/>
          </a:xfrm>
          <a:prstGeom prst="rect">
            <a:avLst/>
          </a:prstGeom>
          <a:solidFill>
            <a:srgbClr val="0A1B35"/>
          </a:solidFill>
          <a:ln w="12700">
            <a:solidFill>
              <a:srgbClr val="1E3D5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606040" y="31729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05C5C"/>
                </a:solidFill>
              </a:rPr>
              <a:t>✗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4160520" y="3172968"/>
            <a:ext cx="1508760" cy="457200"/>
          </a:xfrm>
          <a:prstGeom prst="rect">
            <a:avLst/>
          </a:prstGeom>
          <a:solidFill>
            <a:srgbClr val="0A1B35"/>
          </a:solidFill>
          <a:ln w="12700">
            <a:solidFill>
              <a:srgbClr val="1E3D5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206240" y="31729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05C5C"/>
                </a:solidFill>
              </a:rPr>
              <a:t>✗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5760720" y="3172968"/>
            <a:ext cx="1508760" cy="457200"/>
          </a:xfrm>
          <a:prstGeom prst="rect">
            <a:avLst/>
          </a:prstGeom>
          <a:solidFill>
            <a:srgbClr val="0A1B35"/>
          </a:solidFill>
          <a:ln w="12700">
            <a:solidFill>
              <a:srgbClr val="1E3D5C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806440" y="317296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05C5C"/>
                </a:solidFill>
              </a:rPr>
              <a:t>✗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7406640" y="3172968"/>
            <a:ext cx="1645920" cy="457200"/>
          </a:xfrm>
          <a:prstGeom prst="rect">
            <a:avLst/>
          </a:prstGeom>
          <a:solidFill>
            <a:srgbClr val="112E22"/>
          </a:solidFill>
          <a:ln w="12700">
            <a:solidFill>
              <a:srgbClr val="1E3D5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452360" y="317296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C4B6"/>
                </a:solidFill>
              </a:rPr>
              <a:t>✓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320040" y="3675888"/>
            <a:ext cx="2148840" cy="457200"/>
          </a:xfrm>
          <a:prstGeom prst="rect">
            <a:avLst/>
          </a:prstGeom>
          <a:solidFill>
            <a:srgbClr val="0E2240"/>
          </a:solidFill>
          <a:ln w="12700">
            <a:solidFill>
              <a:srgbClr val="1E3D5C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65760" y="367588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0C8D4"/>
                </a:solidFill>
              </a:rPr>
              <a:t>Geography Filter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2560320" y="3675888"/>
            <a:ext cx="1508760" cy="457200"/>
          </a:xfrm>
          <a:prstGeom prst="rect">
            <a:avLst/>
          </a:prstGeom>
          <a:solidFill>
            <a:srgbClr val="0E2240"/>
          </a:solidFill>
          <a:ln w="12700">
            <a:solidFill>
              <a:srgbClr val="1E3D5C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606040" y="367588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9C46A"/>
                </a:solidFill>
              </a:rPr>
              <a:t>Part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4160520" y="3675888"/>
            <a:ext cx="1508760" cy="457200"/>
          </a:xfrm>
          <a:prstGeom prst="rect">
            <a:avLst/>
          </a:prstGeom>
          <a:solidFill>
            <a:srgbClr val="0E2240"/>
          </a:solidFill>
          <a:ln w="12700">
            <a:solidFill>
              <a:srgbClr val="1E3D5C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206240" y="367588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9C46A"/>
                </a:solidFill>
              </a:rPr>
              <a:t>Part</a:t>
            </a:r>
            <a:endParaRPr lang="en-US" sz="1200" dirty="0"/>
          </a:p>
        </p:txBody>
      </p:sp>
      <p:sp>
        <p:nvSpPr>
          <p:cNvPr id="62" name="Shape 60"/>
          <p:cNvSpPr/>
          <p:nvPr/>
        </p:nvSpPr>
        <p:spPr>
          <a:xfrm>
            <a:off x="5760720" y="3675888"/>
            <a:ext cx="1508760" cy="457200"/>
          </a:xfrm>
          <a:prstGeom prst="rect">
            <a:avLst/>
          </a:prstGeom>
          <a:solidFill>
            <a:srgbClr val="0E2240"/>
          </a:solidFill>
          <a:ln w="12700">
            <a:solidFill>
              <a:srgbClr val="1E3D5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806440" y="367588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05C5C"/>
                </a:solidFill>
              </a:rPr>
              <a:t>✗</a:t>
            </a:r>
            <a:endParaRPr lang="en-US" sz="1200" dirty="0"/>
          </a:p>
        </p:txBody>
      </p:sp>
      <p:sp>
        <p:nvSpPr>
          <p:cNvPr id="64" name="Shape 62"/>
          <p:cNvSpPr/>
          <p:nvPr/>
        </p:nvSpPr>
        <p:spPr>
          <a:xfrm>
            <a:off x="7406640" y="3675888"/>
            <a:ext cx="1645920" cy="457200"/>
          </a:xfrm>
          <a:prstGeom prst="rect">
            <a:avLst/>
          </a:prstGeom>
          <a:solidFill>
            <a:srgbClr val="112E22"/>
          </a:solidFill>
          <a:ln w="12700">
            <a:solidFill>
              <a:srgbClr val="1E3D5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452360" y="367588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C4B6"/>
                </a:solidFill>
              </a:rPr>
              <a:t>✓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320040" y="4178808"/>
            <a:ext cx="2148840" cy="457200"/>
          </a:xfrm>
          <a:prstGeom prst="rect">
            <a:avLst/>
          </a:prstGeom>
          <a:solidFill>
            <a:srgbClr val="0A1B35"/>
          </a:solidFill>
          <a:ln w="12700">
            <a:solidFill>
              <a:srgbClr val="1E3D5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65760" y="4178808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B0C8D4"/>
                </a:solidFill>
              </a:rPr>
              <a:t>Time to Match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2560320" y="4178808"/>
            <a:ext cx="1508760" cy="457200"/>
          </a:xfrm>
          <a:prstGeom prst="rect">
            <a:avLst/>
          </a:prstGeom>
          <a:solidFill>
            <a:srgbClr val="0A1B35"/>
          </a:solidFill>
          <a:ln w="12700">
            <a:solidFill>
              <a:srgbClr val="1E3D5C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606040" y="417880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9C46A"/>
                </a:solidFill>
              </a:rPr>
              <a:t>Days</a:t>
            </a:r>
            <a:endParaRPr lang="en-US" sz="1200" dirty="0"/>
          </a:p>
        </p:txBody>
      </p:sp>
      <p:sp>
        <p:nvSpPr>
          <p:cNvPr id="70" name="Shape 68"/>
          <p:cNvSpPr/>
          <p:nvPr/>
        </p:nvSpPr>
        <p:spPr>
          <a:xfrm>
            <a:off x="4160520" y="4178808"/>
            <a:ext cx="1508760" cy="457200"/>
          </a:xfrm>
          <a:prstGeom prst="rect">
            <a:avLst/>
          </a:prstGeom>
          <a:solidFill>
            <a:srgbClr val="0A1B35"/>
          </a:solidFill>
          <a:ln w="12700">
            <a:solidFill>
              <a:srgbClr val="1E3D5C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206240" y="417880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9C46A"/>
                </a:solidFill>
              </a:rPr>
              <a:t>Days</a:t>
            </a:r>
            <a:endParaRPr lang="en-US" sz="1200" dirty="0"/>
          </a:p>
        </p:txBody>
      </p:sp>
      <p:sp>
        <p:nvSpPr>
          <p:cNvPr id="72" name="Shape 70"/>
          <p:cNvSpPr/>
          <p:nvPr/>
        </p:nvSpPr>
        <p:spPr>
          <a:xfrm>
            <a:off x="5760720" y="4178808"/>
            <a:ext cx="1508760" cy="457200"/>
          </a:xfrm>
          <a:prstGeom prst="rect">
            <a:avLst/>
          </a:prstGeom>
          <a:solidFill>
            <a:srgbClr val="0A1B35"/>
          </a:solidFill>
          <a:ln w="12700">
            <a:solidFill>
              <a:srgbClr val="1E3D5C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806440" y="4178808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9C46A"/>
                </a:solidFill>
              </a:rPr>
              <a:t>Weeks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7406640" y="4178808"/>
            <a:ext cx="1645920" cy="457200"/>
          </a:xfrm>
          <a:prstGeom prst="rect">
            <a:avLst/>
          </a:prstGeom>
          <a:solidFill>
            <a:srgbClr val="112E22"/>
          </a:solidFill>
          <a:ln w="12700">
            <a:solidFill>
              <a:srgbClr val="1E3D5C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452360" y="4178808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9C46A"/>
                </a:solidFill>
              </a:rPr>
              <a:t>Hours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BUSINESS MODEL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005840"/>
            <a:ext cx="2743200" cy="59436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0058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NGO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66420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998B"/>
                </a:solidFill>
              </a:rPr>
              <a:t>FREE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11480" y="23042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C757D"/>
                </a:solidFill>
              </a:rPr>
              <a:t>Always &amp; Forever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84632" y="2706624"/>
            <a:ext cx="164592" cy="164592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4088" y="26517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</a:rPr>
              <a:t>Full profile creation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84632" y="3054096"/>
            <a:ext cx="164592" cy="164592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04088" y="299923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</a:rPr>
              <a:t>Discoverable by CSR &amp; Incubators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84632" y="3401568"/>
            <a:ext cx="164592" cy="164592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4088" y="3346704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</a:rPr>
              <a:t>Receive match requests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84632" y="3749040"/>
            <a:ext cx="164592" cy="164592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4088" y="3694176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</a:rPr>
              <a:t>Dedicated support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4389120"/>
            <a:ext cx="2743200" cy="274320"/>
          </a:xfrm>
          <a:prstGeom prst="rect">
            <a:avLst/>
          </a:prstGeom>
          <a:solidFill>
            <a:srgbClr val="1B998B">
              <a:alpha val="15000"/>
            </a:srgbClr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4389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B998B"/>
                </a:solidFill>
              </a:rPr>
              <a:t>Drives supply-side growth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00400" y="1005840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0" y="1005840"/>
            <a:ext cx="2743200" cy="594360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10058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TIER 1 — INCUBATOR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91840" y="166420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3A86FF"/>
                </a:solidFill>
              </a:rPr>
              <a:t>₹999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3291840" y="23042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C757D"/>
                </a:solidFill>
              </a:rPr>
              <a:t>per month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364992" y="2706624"/>
            <a:ext cx="164592" cy="164592"/>
          </a:xfrm>
          <a:prstGeom prst="ellipse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84448" y="26517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</a:rPr>
              <a:t>First 3 matches free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364992" y="3054096"/>
            <a:ext cx="164592" cy="164592"/>
          </a:xfrm>
          <a:prstGeom prst="ellipse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84448" y="299923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</a:rPr>
              <a:t>Unlock up to 10 matches/mo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364992" y="3401568"/>
            <a:ext cx="164592" cy="164592"/>
          </a:xfrm>
          <a:prstGeom prst="ellipse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84448" y="3346704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</a:rPr>
              <a:t>Filter by domain &amp; geography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64992" y="3749040"/>
            <a:ext cx="164592" cy="164592"/>
          </a:xfrm>
          <a:prstGeom prst="ellipse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84448" y="3694176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</a:rPr>
              <a:t>Basic analytics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00400" y="4389120"/>
            <a:ext cx="2743200" cy="274320"/>
          </a:xfrm>
          <a:prstGeom prst="rect">
            <a:avLst/>
          </a:prstGeom>
          <a:solidFill>
            <a:srgbClr val="3A86FF">
              <a:alpha val="15000"/>
            </a:srgbClr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0" y="4389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A86FF"/>
                </a:solidFill>
              </a:rPr>
              <a:t>Core growth lever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080760" y="1005840"/>
            <a:ext cx="274320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080760" y="1005840"/>
            <a:ext cx="2743200" cy="5943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172200" y="100584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TIER 2 — CSR PREMIUM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172200" y="1664208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4A261"/>
                </a:solidFill>
              </a:rPr>
              <a:t>₹2,499</a:t>
            </a:r>
            <a:endParaRPr lang="en-US" sz="3000" dirty="0"/>
          </a:p>
        </p:txBody>
      </p:sp>
      <p:sp>
        <p:nvSpPr>
          <p:cNvPr id="38" name="Text 36"/>
          <p:cNvSpPr/>
          <p:nvPr/>
        </p:nvSpPr>
        <p:spPr>
          <a:xfrm>
            <a:off x="6172200" y="230428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C757D"/>
                </a:solidFill>
              </a:rPr>
              <a:t>per month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245352" y="2706624"/>
            <a:ext cx="164592" cy="16459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64808" y="265176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</a:rPr>
              <a:t>Unlimited match unlocks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245352" y="3054096"/>
            <a:ext cx="164592" cy="16459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64808" y="299923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</a:rPr>
              <a:t>Due diligence dossier access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45352" y="3401568"/>
            <a:ext cx="164592" cy="16459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64808" y="3346704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</a:rPr>
              <a:t>Priority match ranking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6245352" y="3749040"/>
            <a:ext cx="164592" cy="16459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64808" y="3694176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43A40"/>
                </a:solidFill>
              </a:rPr>
              <a:t>Dedicated onboarding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080760" y="4389120"/>
            <a:ext cx="2743200" cy="274320"/>
          </a:xfrm>
          <a:prstGeom prst="rect">
            <a:avLst/>
          </a:prstGeom>
          <a:solidFill>
            <a:srgbClr val="F4A261">
              <a:alpha val="15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080760" y="4389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4A261"/>
                </a:solidFill>
              </a:rPr>
              <a:t>Primary revenue source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256032"/>
            <a:ext cx="8412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TRACTION &amp; ROADMAP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EC4B6"/>
                </a:solidFill>
              </a:rPr>
              <a:t>✅  WHAT'S LIVE TODAY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201168" cy="201168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371600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8D4"/>
                </a:solidFill>
              </a:rPr>
              <a:t>Homepage, Sign-in / Sign-up UI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5760" y="2029968"/>
            <a:ext cx="201168" cy="201168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938528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8D4"/>
                </a:solidFill>
              </a:rPr>
              <a:t>Role Selection (Incubator / CSR / NGO)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65760" y="2596896"/>
            <a:ext cx="201168" cy="201168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2505456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8D4"/>
                </a:solidFill>
              </a:rPr>
              <a:t>Organisation Profile &amp; Expectations pages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3163824"/>
            <a:ext cx="201168" cy="201168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3072384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8D4"/>
                </a:solidFill>
              </a:rPr>
              <a:t>Dashboard — ranked match cards (3 free)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" y="3730752"/>
            <a:ext cx="201168" cy="201168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63931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0C8D4"/>
                </a:solidFill>
              </a:rPr>
              <a:t>Profile Complete flow &amp; Onboarding UX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617720" y="960120"/>
            <a:ext cx="0" cy="3840480"/>
          </a:xfrm>
          <a:prstGeom prst="line">
            <a:avLst/>
          </a:prstGeom>
          <a:noFill/>
          <a:ln w="12700">
            <a:solidFill>
              <a:srgbClr val="2A4A60"/>
            </a:solidFill>
            <a:prstDash val="dash"/>
          </a:ln>
        </p:spPr>
      </p:sp>
      <p:sp>
        <p:nvSpPr>
          <p:cNvPr id="16" name="Text 14"/>
          <p:cNvSpPr/>
          <p:nvPr/>
        </p:nvSpPr>
        <p:spPr>
          <a:xfrm>
            <a:off x="4800600" y="9601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C46A"/>
                </a:solidFill>
              </a:rPr>
              <a:t>🗺  NEXT 90 DAYS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00600" y="1426464"/>
            <a:ext cx="1005840" cy="274320"/>
          </a:xfrm>
          <a:prstGeom prst="rect">
            <a:avLst/>
          </a:prstGeom>
          <a:solidFill>
            <a:srgbClr val="E9C46A">
              <a:alpha val="20000"/>
            </a:srgbClr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142646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9C46A"/>
                </a:solidFill>
              </a:rPr>
              <a:t>Month 1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897880" y="13716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8D4"/>
                </a:solidFill>
              </a:rPr>
              <a:t>Backend integration (Supabase + Match API)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00600" y="1911096"/>
            <a:ext cx="1005840" cy="274320"/>
          </a:xfrm>
          <a:prstGeom prst="rect">
            <a:avLst/>
          </a:prstGeom>
          <a:solidFill>
            <a:srgbClr val="E9C46A">
              <a:alpha val="20000"/>
            </a:srgbClr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191109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9C46A"/>
                </a:solidFill>
              </a:rPr>
              <a:t>Month 1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897880" y="185623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8D4"/>
                </a:solidFill>
              </a:rPr>
              <a:t>3–5 CSR pilot sign-ups from Saturday meeting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00600" y="2395728"/>
            <a:ext cx="1005840" cy="274320"/>
          </a:xfrm>
          <a:prstGeom prst="rect">
            <a:avLst/>
          </a:prstGeom>
          <a:solidFill>
            <a:srgbClr val="E9C46A">
              <a:alpha val="20000"/>
            </a:srgbClr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00600" y="23957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9C46A"/>
                </a:solidFill>
              </a:rPr>
              <a:t>Month 2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897880" y="234086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8D4"/>
                </a:solidFill>
              </a:rPr>
              <a:t>10 NGO profiles onboarded in tribal regions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800600" y="2880360"/>
            <a:ext cx="1005840" cy="274320"/>
          </a:xfrm>
          <a:prstGeom prst="rect">
            <a:avLst/>
          </a:prstGeom>
          <a:solidFill>
            <a:srgbClr val="E9C46A">
              <a:alpha val="20000"/>
            </a:srgbClr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28803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9C46A"/>
                </a:solidFill>
              </a:rPr>
              <a:t>Month 2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897880" y="282549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8D4"/>
                </a:solidFill>
              </a:rPr>
              <a:t>Payment gateway — Tier 1 &amp; Tier 2 live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3364992"/>
            <a:ext cx="1005840" cy="274320"/>
          </a:xfrm>
          <a:prstGeom prst="rect">
            <a:avLst/>
          </a:prstGeom>
          <a:solidFill>
            <a:srgbClr val="E9C46A">
              <a:alpha val="20000"/>
            </a:srgbClr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00600" y="336499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9C46A"/>
                </a:solidFill>
              </a:rPr>
              <a:t>Month 3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897880" y="331012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8D4"/>
                </a:solidFill>
              </a:rPr>
              <a:t>First paid match unlocked &amp; case study published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00600" y="3849624"/>
            <a:ext cx="1005840" cy="274320"/>
          </a:xfrm>
          <a:prstGeom prst="rect">
            <a:avLst/>
          </a:prstGeom>
          <a:solidFill>
            <a:srgbClr val="E9C46A">
              <a:alpha val="20000"/>
            </a:srgbClr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384962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9C46A"/>
                </a:solidFill>
              </a:rPr>
              <a:t>Month 3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897880" y="379476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C8D4"/>
                </a:solidFill>
              </a:rPr>
              <a:t>Incubation centre partnerships in 2 cities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6858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QUESTIONS TO ASK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132320" y="20116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2545"/>
                </a:solidFill>
              </a:rPr>
              <a:t>📋 Prep Notes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85039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005840"/>
            <a:ext cx="164592" cy="694944"/>
          </a:xfrm>
          <a:prstGeom prst="rect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66928" y="1097280"/>
            <a:ext cx="1417320" cy="219456"/>
          </a:xfrm>
          <a:prstGeom prst="rect">
            <a:avLst/>
          </a:prstGeom>
          <a:solidFill>
            <a:srgbClr val="E05C5C">
              <a:alpha val="15000"/>
            </a:srgbClr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109728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05C5C"/>
                </a:solidFill>
              </a:rPr>
              <a:t>Validate the Problem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084832" y="1060704"/>
            <a:ext cx="5074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2545"/>
                </a:solidFill>
              </a:rPr>
              <a:t>"What is your current process when a startup needs a CSR partner or an NGO for implementation?"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" y="1408176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C757D"/>
                </a:solidFill>
              </a:rPr>
              <a:t>💡 This tells you if the pain is real for them. Let them talk — don't interrupt.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7223760" y="1170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05C5C"/>
                </a:solidFill>
              </a:rPr>
              <a:t>1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0040" y="1810512"/>
            <a:ext cx="85039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1810512"/>
            <a:ext cx="164592" cy="694944"/>
          </a:xfrm>
          <a:prstGeom prst="rect">
            <a:avLst/>
          </a:prstGeom>
          <a:solidFill>
            <a:srgbClr val="3A86FF"/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66928" y="1901952"/>
            <a:ext cx="1417320" cy="219456"/>
          </a:xfrm>
          <a:prstGeom prst="rect">
            <a:avLst/>
          </a:prstGeom>
          <a:solidFill>
            <a:srgbClr val="3A86FF">
              <a:alpha val="15000"/>
            </a:srgbClr>
          </a:solidFill>
          <a:ln w="12700">
            <a:solidFill>
              <a:srgbClr val="3A86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66928" y="1901952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3A86FF"/>
                </a:solidFill>
              </a:rPr>
              <a:t>Understand the Scale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2084832" y="1865376"/>
            <a:ext cx="5074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2545"/>
                </a:solidFill>
              </a:rPr>
              <a:t>"How many of your startups are currently in conversations with CSR companies or looking for NGO partners?"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66928" y="2212848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C757D"/>
                </a:solidFill>
              </a:rPr>
              <a:t>💡 Gives you a number. Even if they say 3-4, that's your first pilot batch.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223760" y="1975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3A86FF"/>
                </a:solidFill>
              </a:rPr>
              <a:t>2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20040" y="2615184"/>
            <a:ext cx="85039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0040" y="2615184"/>
            <a:ext cx="164592" cy="694944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6928" y="2706624"/>
            <a:ext cx="1417320" cy="219456"/>
          </a:xfrm>
          <a:prstGeom prst="rect">
            <a:avLst/>
          </a:prstGeom>
          <a:solidFill>
            <a:srgbClr val="1B998B">
              <a:alpha val="15000"/>
            </a:srgbClr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270662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B998B"/>
                </a:solidFill>
              </a:rPr>
              <a:t>Get Them Involved</a:t>
            </a:r>
            <a:endParaRPr lang="en-US" sz="750" dirty="0"/>
          </a:p>
        </p:txBody>
      </p:sp>
      <p:sp>
        <p:nvSpPr>
          <p:cNvPr id="25" name="Text 23"/>
          <p:cNvSpPr/>
          <p:nvPr/>
        </p:nvSpPr>
        <p:spPr>
          <a:xfrm>
            <a:off x="2084832" y="2670048"/>
            <a:ext cx="5074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2545"/>
                </a:solidFill>
              </a:rPr>
              <a:t>"Would you be open to piloting Drivya with 2-3 of your startups over the next 4-6 weeks — completely free?"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566928" y="3017520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C757D"/>
                </a:solidFill>
              </a:rPr>
              <a:t>💡 This is your ask. A pilot, not a commitment. Much easier to say yes to.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223760" y="2779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998B"/>
                </a:solidFill>
              </a:rPr>
              <a:t>3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20040" y="3419856"/>
            <a:ext cx="85039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20040" y="3419856"/>
            <a:ext cx="164592" cy="69494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66928" y="3511296"/>
            <a:ext cx="1417320" cy="219456"/>
          </a:xfrm>
          <a:prstGeom prst="rect">
            <a:avLst/>
          </a:prstGeom>
          <a:solidFill>
            <a:srgbClr val="F4A261">
              <a:alpha val="15000"/>
            </a:srgbClr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6928" y="351129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4A261"/>
                </a:solidFill>
              </a:rPr>
              <a:t>Build Credibility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2084832" y="3474720"/>
            <a:ext cx="5074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2545"/>
                </a:solidFill>
              </a:rPr>
              <a:t>"Could we list this incubation centre as a 'Founding Partner' on Drivya's platform when we launch?"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66928" y="3822192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C757D"/>
                </a:solidFill>
              </a:rPr>
              <a:t>💡 Free for them. Huge credibility boost for you. Win-win ask.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7223760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A261"/>
                </a:solidFill>
              </a:rPr>
              <a:t>4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20040" y="4224528"/>
            <a:ext cx="8503920" cy="694944"/>
          </a:xfrm>
          <a:prstGeom prst="rect">
            <a:avLst/>
          </a:prstGeom>
          <a:solidFill>
            <a:srgbClr val="FFFFFF"/>
          </a:solidFill>
          <a:ln w="12700">
            <a:solidFill>
              <a:srgbClr val="E0E8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20040" y="4224528"/>
            <a:ext cx="164592" cy="694944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315968"/>
            <a:ext cx="1417320" cy="219456"/>
          </a:xfrm>
          <a:prstGeom prst="rect">
            <a:avLst/>
          </a:prstGeom>
          <a:solidFill>
            <a:srgbClr val="6D2E46">
              <a:alpha val="15000"/>
            </a:srgbClr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66928" y="4315968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6D2E46"/>
                </a:solidFill>
              </a:rPr>
              <a:t>Expand Network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2084832" y="4279392"/>
            <a:ext cx="5074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B2545"/>
                </a:solidFill>
              </a:rPr>
              <a:t>"Do you know other incubation centres or CSR managers who face the same problem?"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66928" y="4626864"/>
            <a:ext cx="6583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6C757D"/>
                </a:solidFill>
              </a:rPr>
              <a:t>💡 Even one warm intro changes your trajectory. Always ask this last.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223760" y="4389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D2E46"/>
                </a:solidFill>
              </a:rPr>
              <a:t>5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DRIVYA IN ACTION — A REAL EXAMPLE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C757D"/>
                </a:solidFill>
              </a:rPr>
              <a:t>Green Enviro — a MIET incubated startup from Meerut — and how Drivya would match it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74320" y="1353312"/>
            <a:ext cx="26060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353312"/>
            <a:ext cx="2606040" cy="47548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353312"/>
            <a:ext cx="2606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EC4B6"/>
                </a:solidFill>
              </a:rPr>
              <a:t>STARTUP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11480" y="192024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1B998B"/>
                </a:solidFill>
              </a:rPr>
              <a:t>Name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261872" y="192024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43A40"/>
                </a:solidFill>
              </a:rPr>
              <a:t>Green Enviro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11480" y="237744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1B998B"/>
                </a:solidFill>
              </a:rPr>
              <a:t>Location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261872" y="237744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43A40"/>
                </a:solidFill>
              </a:rPr>
              <a:t>Meerut, Uttar Pradesh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11480" y="283464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1B998B"/>
                </a:solidFill>
              </a:rPr>
              <a:t>Sector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261872" y="283464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43A40"/>
                </a:solidFill>
              </a:rPr>
              <a:t>Sanitation &amp; Environment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11480" y="329184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1B998B"/>
                </a:solidFill>
              </a:rPr>
              <a:t>Product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261872" y="329184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43A40"/>
                </a:solidFill>
              </a:rPr>
              <a:t>Mobile Toilets, Bio Digester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43A40"/>
                </a:solidFill>
              </a:rPr>
              <a:t>Tanks, FRP Portable Toilets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411480" y="374904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1B998B"/>
                </a:solidFill>
              </a:rPr>
              <a:t>Goal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261872" y="374904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43A40"/>
                </a:solidFill>
              </a:rPr>
              <a:t>Scale to rural &amp; tribal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43A40"/>
                </a:solidFill>
              </a:rPr>
              <a:t>districts across UP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411480" y="420624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1B998B"/>
                </a:solidFill>
              </a:rPr>
              <a:t>Needs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261872" y="4206240"/>
            <a:ext cx="1508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343A40"/>
                </a:solidFill>
              </a:rPr>
              <a:t>CSR funding + NGO field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43A40"/>
                </a:solidFill>
              </a:rPr>
              <a:t>deployment partner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035808" y="1993392"/>
            <a:ext cx="640080" cy="256032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35808" y="199339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MATCH →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3090672" y="2304288"/>
            <a:ext cx="530352" cy="530352"/>
          </a:xfrm>
          <a:prstGeom prst="ellipse">
            <a:avLst/>
          </a:prstGeom>
          <a:solidFill>
            <a:srgbClr val="0B2545"/>
          </a:solidFill>
          <a:ln w="25400">
            <a:solidFill>
              <a:srgbClr val="1B99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90672" y="23042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9C46A"/>
                </a:solidFill>
              </a:rPr>
              <a:t>91%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035808" y="3246120"/>
            <a:ext cx="640080" cy="25603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35808" y="324612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MATCH →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3090672" y="3547872"/>
            <a:ext cx="530352" cy="530352"/>
          </a:xfrm>
          <a:prstGeom prst="ellipse">
            <a:avLst/>
          </a:prstGeom>
          <a:solidFill>
            <a:srgbClr val="0B2545"/>
          </a:solidFill>
          <a:ln w="25400">
            <a:solidFill>
              <a:srgbClr val="F4A2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090672" y="35478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9C46A"/>
                </a:solidFill>
              </a:rPr>
              <a:t>84%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794760" y="1353312"/>
            <a:ext cx="5029200" cy="1481328"/>
          </a:xfrm>
          <a:prstGeom prst="rect">
            <a:avLst/>
          </a:prstGeom>
          <a:solidFill>
            <a:srgbClr val="FFFFFF"/>
          </a:solidFill>
          <a:ln w="12700">
            <a:solidFill>
              <a:srgbClr val="C5E8E2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794760" y="1353312"/>
            <a:ext cx="5029200" cy="384048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886200" y="135331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✅  MATCHED CSR COMPANY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913632" y="182880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998B"/>
                </a:solidFill>
              </a:rPr>
              <a:t>Company: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846320" y="1828800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43A40"/>
                </a:solidFill>
              </a:rPr>
              <a:t>Hindustan Unilever Foundation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3913632" y="206654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998B"/>
                </a:solidFill>
              </a:rPr>
              <a:t>CSR Focus: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846320" y="2066544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43A40"/>
                </a:solidFill>
              </a:rPr>
              <a:t>Swachh Bharat — Sanitation &amp; Clean Water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3913632" y="230428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998B"/>
                </a:solidFill>
              </a:rPr>
              <a:t>Geography: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846320" y="2304288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43A40"/>
                </a:solidFill>
              </a:rPr>
              <a:t>Pan India, including rural UP &amp; tribal belts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3913632" y="254203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B998B"/>
                </a:solidFill>
              </a:rPr>
              <a:t>Why Match: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846320" y="2542032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43A40"/>
                </a:solidFill>
              </a:rPr>
              <a:t>Their CSR mandate directly funds sanitation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3A40"/>
                </a:solidFill>
              </a:rPr>
              <a:t>infrastructure — Green Enviro's exact product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794760" y="2999232"/>
            <a:ext cx="502920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4D4B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3794760" y="2999232"/>
            <a:ext cx="5029200" cy="38404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86200" y="2999232"/>
            <a:ext cx="4846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✅  MATCHED NGO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3913632" y="34747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4A261"/>
                </a:solidFill>
              </a:rPr>
              <a:t>NGO: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846320" y="3474720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43A40"/>
                </a:solidFill>
              </a:rPr>
              <a:t>Sulabh International Social Service Org.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3913632" y="371246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4A261"/>
                </a:solidFill>
              </a:rPr>
              <a:t>Focus: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4846320" y="3712464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43A40"/>
                </a:solidFill>
              </a:rPr>
              <a:t>Sanitation, hygiene &amp; rural toilet deployment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3913632" y="395020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4A261"/>
                </a:solidFill>
              </a:rPr>
              <a:t>Geography:</a:t>
            </a:r>
            <a:endParaRPr lang="en-US" sz="800" dirty="0"/>
          </a:p>
        </p:txBody>
      </p:sp>
      <p:sp>
        <p:nvSpPr>
          <p:cNvPr id="48" name="Text 46"/>
          <p:cNvSpPr/>
          <p:nvPr/>
        </p:nvSpPr>
        <p:spPr>
          <a:xfrm>
            <a:off x="4846320" y="3950208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43A40"/>
                </a:solidFill>
              </a:rPr>
              <a:t>Active in UP, tribal districts, rural belts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3913632" y="418795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4A261"/>
                </a:solidFill>
              </a:rPr>
              <a:t>Why Match: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846320" y="4187952"/>
            <a:ext cx="38587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43A40"/>
                </a:solidFill>
              </a:rPr>
              <a:t>They deploy ground-level sanitation — can use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343A40"/>
                </a:solidFill>
              </a:rPr>
              <a:t>Green Enviro products for field implementation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74320" y="4736592"/>
            <a:ext cx="859536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9C46A"/>
                </a:solidFill>
              </a:rPr>
              <a:t>⏱  Without Drivya: 2-3 months of manual search.   With Drivya: this match appears in hours — on first login.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914400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PRODUCT PREVIEW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5029200" cy="347472"/>
          </a:xfrm>
          <a:prstGeom prst="rect">
            <a:avLst/>
          </a:prstGeom>
          <a:solidFill>
            <a:srgbClr val="E2E8ED"/>
          </a:solidFill>
          <a:ln w="12700">
            <a:solidFill>
              <a:srgbClr val="CCD4D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02336" y="1115568"/>
            <a:ext cx="146304" cy="146304"/>
          </a:xfrm>
          <a:prstGeom prst="ellipse">
            <a:avLst/>
          </a:prstGeom>
          <a:solidFill>
            <a:srgbClr val="E05C5C"/>
          </a:solidFill>
          <a:ln w="12700">
            <a:solidFill>
              <a:srgbClr val="E05C5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216" y="1115568"/>
            <a:ext cx="146304" cy="146304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8096" y="1115568"/>
            <a:ext cx="146304" cy="146304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1133856"/>
            <a:ext cx="329184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B0BEC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133856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546E7A"/>
                </a:solidFill>
              </a:rPr>
              <a:t>drivya.in/dashboard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274320" y="1371600"/>
            <a:ext cx="50292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CCD4DA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371600"/>
            <a:ext cx="5029200" cy="438912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2336" y="1371600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9C46A"/>
                </a:solidFill>
              </a:rPr>
              <a:t>DRIVYA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554480" y="137160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AAABB"/>
                </a:solidFill>
              </a:rPr>
              <a:t>Dashboard  |  Matches  |  Profile  |  Unlock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02336" y="19202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545"/>
                </a:solidFill>
              </a:rPr>
              <a:t>Your Top Matches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02336" y="223113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B998B"/>
                </a:solidFill>
              </a:rPr>
              <a:t>3 new matches this week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65760" y="2578608"/>
            <a:ext cx="4828032" cy="640080"/>
          </a:xfrm>
          <a:prstGeom prst="rect">
            <a:avLst/>
          </a:prstGeom>
          <a:solidFill>
            <a:srgbClr val="F0FAF8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688336"/>
            <a:ext cx="475488" cy="475488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68833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94%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024128" y="2633472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B2545"/>
                </a:solidFill>
              </a:rPr>
              <a:t>Pratham Education Foundation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24128" y="292608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757D"/>
                </a:solidFill>
              </a:rPr>
              <a:t>Maharashtra • National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547872" y="2688336"/>
            <a:ext cx="749808" cy="201168"/>
          </a:xfrm>
          <a:prstGeom prst="rect">
            <a:avLst/>
          </a:prstGeom>
          <a:solidFill>
            <a:srgbClr val="E0F5F2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47872" y="2688336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1B998B"/>
                </a:solidFill>
              </a:rPr>
              <a:t>Education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4462272" y="2724912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998B"/>
                </a:solidFill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65760" y="3328416"/>
            <a:ext cx="4828032" cy="640080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438144"/>
            <a:ext cx="475488" cy="475488"/>
          </a:xfrm>
          <a:prstGeom prst="ellipse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4381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87%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024128" y="338328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88888"/>
                </a:solidFill>
              </a:rPr>
              <a:t>SEWA Bharat — Women's Collective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024128" y="367588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757D"/>
                </a:solidFill>
              </a:rPr>
              <a:t>Rajasthan • Gujarat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3547872" y="3438144"/>
            <a:ext cx="749808" cy="201168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47872" y="3438144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99999"/>
                </a:solidFill>
              </a:rPr>
              <a:t>Livelihoods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4462272" y="3474720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998B"/>
                </a:solidFill>
              </a:rPr>
              <a:t>→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" y="4078224"/>
            <a:ext cx="4828032" cy="640080"/>
          </a:xfrm>
          <a:prstGeom prst="rect">
            <a:avLst/>
          </a:prstGeom>
          <a:solidFill>
            <a:srgbClr val="F8F8F8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4187952"/>
            <a:ext cx="475488" cy="475488"/>
          </a:xfrm>
          <a:prstGeom prst="ellipse">
            <a:avLst/>
          </a:prstGeom>
          <a:solidFill>
            <a:srgbClr val="AAAAAA"/>
          </a:solidFill>
          <a:ln w="12700">
            <a:solidFill>
              <a:srgbClr val="AAAAA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1879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81%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024128" y="413308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888888"/>
                </a:solidFill>
              </a:rPr>
              <a:t>Waste Warriors India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1024128" y="4425696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C757D"/>
                </a:solidFill>
              </a:rPr>
              <a:t>Uttarakhand • HP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3547872" y="4187952"/>
            <a:ext cx="749808" cy="201168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547872" y="4187952"/>
            <a:ext cx="749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999999"/>
                </a:solidFill>
              </a:rPr>
              <a:t>Environment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4462272" y="4224528"/>
            <a:ext cx="502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998B"/>
                </a:solidFill>
              </a:rPr>
              <a:t>→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5349240" y="2148840"/>
            <a:ext cx="502920" cy="0"/>
          </a:xfrm>
          <a:prstGeom prst="line">
            <a:avLst/>
          </a:prstGeom>
          <a:noFill/>
          <a:ln w="19050">
            <a:solidFill>
              <a:srgbClr val="1B998B"/>
            </a:solidFill>
            <a:prstDash val="dash"/>
          </a:ln>
        </p:spPr>
      </p:sp>
      <p:sp>
        <p:nvSpPr>
          <p:cNvPr id="42" name="Shape 40"/>
          <p:cNvSpPr/>
          <p:nvPr/>
        </p:nvSpPr>
        <p:spPr>
          <a:xfrm>
            <a:off x="5303520" y="2093976"/>
            <a:ext cx="109728" cy="109728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5852160" y="1965960"/>
            <a:ext cx="29260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852160" y="1965960"/>
            <a:ext cx="109728" cy="54864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035040" y="196596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</a:rPr>
              <a:t>Ranked match list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</a:rPr>
              <a:t>by Match Score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349240" y="2926080"/>
            <a:ext cx="502920" cy="0"/>
          </a:xfrm>
          <a:prstGeom prst="line">
            <a:avLst/>
          </a:prstGeom>
          <a:noFill/>
          <a:ln w="19050">
            <a:solidFill>
              <a:srgbClr val="1B998B"/>
            </a:solidFill>
            <a:prstDash val="dash"/>
          </a:ln>
        </p:spPr>
      </p:sp>
      <p:sp>
        <p:nvSpPr>
          <p:cNvPr id="47" name="Shape 45"/>
          <p:cNvSpPr/>
          <p:nvPr/>
        </p:nvSpPr>
        <p:spPr>
          <a:xfrm>
            <a:off x="5303520" y="2871216"/>
            <a:ext cx="109728" cy="109728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852160" y="2743200"/>
            <a:ext cx="29260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5852160" y="2743200"/>
            <a:ext cx="109728" cy="54864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035040" y="27432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</a:rPr>
              <a:t>3 matches free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</a:rPr>
              <a:t>(full details visible)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349240" y="3675888"/>
            <a:ext cx="502920" cy="0"/>
          </a:xfrm>
          <a:prstGeom prst="line">
            <a:avLst/>
          </a:prstGeom>
          <a:noFill/>
          <a:ln w="19050">
            <a:solidFill>
              <a:srgbClr val="1B998B"/>
            </a:solidFill>
            <a:prstDash val="dash"/>
          </a:ln>
        </p:spPr>
      </p:sp>
      <p:sp>
        <p:nvSpPr>
          <p:cNvPr id="52" name="Shape 50"/>
          <p:cNvSpPr/>
          <p:nvPr/>
        </p:nvSpPr>
        <p:spPr>
          <a:xfrm>
            <a:off x="5303520" y="3621024"/>
            <a:ext cx="109728" cy="109728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852160" y="3493008"/>
            <a:ext cx="29260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8E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5852160" y="3493008"/>
            <a:ext cx="109728" cy="54864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035040" y="349300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</a:rPr>
              <a:t>Unlock more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0B2545"/>
                </a:solidFill>
              </a:rPr>
              <a:t>with subscription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74320" y="4736592"/>
            <a:ext cx="859536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🚀  Let's build India's collaboration infrastructure — together.   |   drivya.in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1432</Words>
  <Application>Microsoft Office PowerPoint</Application>
  <PresentationFormat>On-screen Show (16:9)</PresentationFormat>
  <Paragraphs>287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Drivya – Pitch Deck</dc:title>
  <dc:subject>PptxGenJS Presentation</dc:subject>
  <dc:creator>PptxGenJS</dc:creator>
  <cp:lastModifiedBy>Gungun goel</cp:lastModifiedBy>
  <cp:revision>2</cp:revision>
  <dcterms:created xsi:type="dcterms:W3CDTF">2026-03-10T17:24:40Z</dcterms:created>
  <dcterms:modified xsi:type="dcterms:W3CDTF">2026-03-11T08:44:12Z</dcterms:modified>
</cp:coreProperties>
</file>